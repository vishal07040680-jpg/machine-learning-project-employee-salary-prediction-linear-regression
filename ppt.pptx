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Alexandria"/>
      <p:regular r:id="rId17"/>
    </p:embeddedFont>
    <p:embeddedFont>
      <p:font typeface="Alexandria"/>
      <p:regular r:id="rId18"/>
    </p:embeddedFont>
    <p:embeddedFont>
      <p:font typeface="Nobile"/>
      <p:regular r:id="rId19"/>
    </p:embeddedFont>
    <p:embeddedFont>
      <p:font typeface="Nobile"/>
      <p:regular r:id="rId20"/>
    </p:embeddedFont>
    <p:embeddedFont>
      <p:font typeface="Nobile"/>
      <p:regular r:id="rId21"/>
    </p:embeddedFont>
    <p:embeddedFont>
      <p:font typeface="Nobile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image" Target="../media/image-6-9.png"/><Relationship Id="rId10" Type="http://schemas.openxmlformats.org/officeDocument/2006/relationships/image" Target="../media/image-6-10.svg"/><Relationship Id="rId11" Type="http://schemas.openxmlformats.org/officeDocument/2006/relationships/slideLayout" Target="../slideLayouts/slideLayout7.xml"/><Relationship Id="rId1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518648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Salary Prediction Using Regression: Unlocking Insights from Experience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985147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Leveraging machine learning to forecast compensation based on experience and skills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2784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Why Predict Salary?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1990249"/>
            <a:ext cx="6407944" cy="2592348"/>
          </a:xfrm>
          <a:prstGeom prst="roundRect">
            <a:avLst>
              <a:gd name="adj" fmla="val 3675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8224" y="2224683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1B54DA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15390" y="2411730"/>
            <a:ext cx="306110" cy="3061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8224" y="313193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Fair Benchmarking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28224" y="3622358"/>
            <a:ext cx="593907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Helps companies benchmark compensation fairly across roles and experience levels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7428548" y="1990249"/>
            <a:ext cx="6408063" cy="2592348"/>
          </a:xfrm>
          <a:prstGeom prst="roundRect">
            <a:avLst>
              <a:gd name="adj" fmla="val 3675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662982" y="2224683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1B54DA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50148" y="2411730"/>
            <a:ext cx="306110" cy="30611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662982" y="313193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Market Insight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7662982" y="3622358"/>
            <a:ext cx="593919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Assists job seekers in understanding their market value and negotiating better offers</a:t>
            </a:r>
            <a:endParaRPr lang="en-US" sz="1750" dirty="0"/>
          </a:p>
        </p:txBody>
      </p:sp>
      <p:sp>
        <p:nvSpPr>
          <p:cNvPr id="13" name="Shape 9"/>
          <p:cNvSpPr/>
          <p:nvPr/>
        </p:nvSpPr>
        <p:spPr>
          <a:xfrm>
            <a:off x="793790" y="4809411"/>
            <a:ext cx="6407944" cy="2592348"/>
          </a:xfrm>
          <a:prstGeom prst="roundRect">
            <a:avLst>
              <a:gd name="adj" fmla="val 3675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1028224" y="5043845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1B54DA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15390" y="5230892"/>
            <a:ext cx="306110" cy="30611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28224" y="5951101"/>
            <a:ext cx="309562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Data-Driven Decisions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1028224" y="6441519"/>
            <a:ext cx="593907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Enables data-driven HR and recruitment decisions based on market trends</a:t>
            </a:r>
            <a:endParaRPr lang="en-US" sz="1750" dirty="0"/>
          </a:p>
        </p:txBody>
      </p:sp>
      <p:sp>
        <p:nvSpPr>
          <p:cNvPr id="18" name="Shape 13"/>
          <p:cNvSpPr/>
          <p:nvPr/>
        </p:nvSpPr>
        <p:spPr>
          <a:xfrm>
            <a:off x="7428548" y="4809411"/>
            <a:ext cx="6408063" cy="2592348"/>
          </a:xfrm>
          <a:prstGeom prst="roundRect">
            <a:avLst>
              <a:gd name="adj" fmla="val 3675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662982" y="5043845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1B54DA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850148" y="5230892"/>
            <a:ext cx="306110" cy="30611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662982" y="595110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Trend Analysis</a:t>
            </a:r>
            <a:endParaRPr lang="en-US" sz="2200" dirty="0"/>
          </a:p>
        </p:txBody>
      </p:sp>
      <p:sp>
        <p:nvSpPr>
          <p:cNvPr id="22" name="Text 16"/>
          <p:cNvSpPr/>
          <p:nvPr/>
        </p:nvSpPr>
        <p:spPr>
          <a:xfrm>
            <a:off x="7662982" y="6441519"/>
            <a:ext cx="593919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Regression models reveal salary trends linked to experience and skill progression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74356" y="629960"/>
            <a:ext cx="6712148" cy="703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The Problem Statement</a:t>
            </a:r>
            <a:endParaRPr lang="en-US" sz="44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4356" y="1668780"/>
            <a:ext cx="1125736" cy="165389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623572" y="1893927"/>
            <a:ext cx="2814399" cy="351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Input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7623572" y="2379821"/>
            <a:ext cx="6218873" cy="7177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Years of professional experience and optionally other features like education, location, and skills</a:t>
            </a:r>
            <a:endParaRPr lang="en-US" sz="17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4356" y="3322677"/>
            <a:ext cx="1125736" cy="1653897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623572" y="3547824"/>
            <a:ext cx="2814399" cy="351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Model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7623572" y="4033718"/>
            <a:ext cx="6218873" cy="7177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Regression algorithm learns patterns from historical salary data</a:t>
            </a:r>
            <a:endParaRPr lang="en-US" sz="17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4356" y="4976574"/>
            <a:ext cx="1125736" cy="1653897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623572" y="5201722"/>
            <a:ext cx="2814399" cy="351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Output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7623572" y="5687616"/>
            <a:ext cx="6218873" cy="7177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Predicted annual salary for given experience level and profile</a:t>
            </a:r>
            <a:endParaRPr lang="en-US" sz="1750" dirty="0"/>
          </a:p>
        </p:txBody>
      </p:sp>
      <p:sp>
        <p:nvSpPr>
          <p:cNvPr id="13" name="Text 7"/>
          <p:cNvSpPr/>
          <p:nvPr/>
        </p:nvSpPr>
        <p:spPr>
          <a:xfrm>
            <a:off x="6274356" y="6881813"/>
            <a:ext cx="7568089" cy="7177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Goal:</a:t>
            </a:r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Build a model that accurately estimates salary for any given experience level and profile characteristics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2955" y="733425"/>
            <a:ext cx="9233892" cy="6991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Understanding Linear Regression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82955" y="2243971"/>
            <a:ext cx="4198739" cy="349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The Mathematical Foundation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82955" y="2814161"/>
            <a:ext cx="4217789" cy="710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Models the relationship between experience and salary as a straight line: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82955" y="3804166"/>
            <a:ext cx="4217789" cy="730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endParaRPr lang="en-US" sz="1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2955" y="3804166"/>
            <a:ext cx="4217789" cy="73080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82955" y="4814173"/>
            <a:ext cx="4217789" cy="710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Slope:</a:t>
            </a:r>
            <a:pPr algn="l" indent="0" marL="0">
              <a:lnSpc>
                <a:spcPts val="27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Average salary increase per year of experience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782955" y="5723453"/>
            <a:ext cx="4217789" cy="710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Intercept:</a:t>
            </a:r>
            <a:pPr algn="l" indent="0" marL="0">
              <a:lnSpc>
                <a:spcPts val="27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Base salary for zero experience (entry-level)</a:t>
            </a:r>
            <a:endParaRPr lang="en-US" sz="17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4147" y="2011561"/>
            <a:ext cx="8300799" cy="46329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82955" y="7140773"/>
            <a:ext cx="13064490" cy="355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Simple, interpretable, and effective for structured salary data with clear trends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04593"/>
            <a:ext cx="790765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Data Preparation &amp; Features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667000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Alexandria Light" pitchFamily="34" charset="0"/>
                <a:ea typeface="Alexandria Light" pitchFamily="34" charset="-122"/>
                <a:cs typeface="Alexandria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022044"/>
            <a:ext cx="4196358" cy="30480"/>
          </a:xfrm>
          <a:prstGeom prst="rect">
            <a:avLst/>
          </a:prstGeom>
          <a:solidFill>
            <a:srgbClr val="1B54DA"/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3196352"/>
            <a:ext cx="330160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Basic Dataset Structure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3686770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YearsExperience and Salary columns (e.g., 1.1 years → ₹39,343)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5216962" y="2667000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Alexandria Light" pitchFamily="34" charset="0"/>
                <a:ea typeface="Alexandria Light" pitchFamily="34" charset="-122"/>
                <a:cs typeface="Alexandria Light" pitchFamily="34" charset="-120"/>
              </a:rPr>
              <a:t>02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216962" y="3022044"/>
            <a:ext cx="4196358" cy="30480"/>
          </a:xfrm>
          <a:prstGeom prst="rect">
            <a:avLst/>
          </a:prstGeom>
          <a:solidFill>
            <a:srgbClr val="1B54DA"/>
          </a:solidFill>
          <a:ln/>
        </p:spPr>
      </p:sp>
      <p:sp>
        <p:nvSpPr>
          <p:cNvPr id="9" name="Text 7"/>
          <p:cNvSpPr/>
          <p:nvPr/>
        </p:nvSpPr>
        <p:spPr>
          <a:xfrm>
            <a:off x="5216962" y="319635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Advanced Features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216962" y="3686770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Gender, Education level, Job Title, Location, Industry sector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9640133" y="2667000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Alexandria Light" pitchFamily="34" charset="0"/>
                <a:ea typeface="Alexandria Light" pitchFamily="34" charset="-122"/>
                <a:cs typeface="Alexandria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9640133" y="3022044"/>
            <a:ext cx="4196358" cy="30480"/>
          </a:xfrm>
          <a:prstGeom prst="rect">
            <a:avLst/>
          </a:prstGeom>
          <a:solidFill>
            <a:srgbClr val="1B54DA"/>
          </a:solidFill>
          <a:ln/>
        </p:spPr>
      </p:sp>
      <p:sp>
        <p:nvSpPr>
          <p:cNvPr id="13" name="Text 11"/>
          <p:cNvSpPr/>
          <p:nvPr/>
        </p:nvSpPr>
        <p:spPr>
          <a:xfrm>
            <a:off x="9640133" y="319635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Data Cleaning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640133" y="3686770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Handle missing values using median or mode imputation techniques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93790" y="480941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Alexandria Light" pitchFamily="34" charset="0"/>
                <a:ea typeface="Alexandria Light" pitchFamily="34" charset="-122"/>
                <a:cs typeface="Alexandria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93790" y="5164455"/>
            <a:ext cx="6407944" cy="30480"/>
          </a:xfrm>
          <a:prstGeom prst="rect">
            <a:avLst/>
          </a:prstGeom>
          <a:solidFill>
            <a:srgbClr val="1B54DA"/>
          </a:solidFill>
          <a:ln/>
        </p:spPr>
      </p:sp>
      <p:sp>
        <p:nvSpPr>
          <p:cNvPr id="17" name="Text 15"/>
          <p:cNvSpPr/>
          <p:nvPr/>
        </p:nvSpPr>
        <p:spPr>
          <a:xfrm>
            <a:off x="793790" y="5338763"/>
            <a:ext cx="438090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Encoding Categorical Variables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93790" y="5829181"/>
            <a:ext cx="64079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Label Encoding or One-Hot Encoding for non-numeric features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7428548" y="480941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Alexandria Light" pitchFamily="34" charset="0"/>
                <a:ea typeface="Alexandria Light" pitchFamily="34" charset="-122"/>
                <a:cs typeface="Alexandria Light" pitchFamily="34" charset="-120"/>
              </a:rPr>
              <a:t>05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7428548" y="5164455"/>
            <a:ext cx="6407944" cy="30480"/>
          </a:xfrm>
          <a:prstGeom prst="rect">
            <a:avLst/>
          </a:prstGeom>
          <a:solidFill>
            <a:srgbClr val="1B54DA"/>
          </a:solidFill>
          <a:ln/>
        </p:spPr>
      </p:sp>
      <p:sp>
        <p:nvSpPr>
          <p:cNvPr id="21" name="Text 19"/>
          <p:cNvSpPr/>
          <p:nvPr/>
        </p:nvSpPr>
        <p:spPr>
          <a:xfrm>
            <a:off x="7428548" y="533876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Feature Scaling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28548" y="5829181"/>
            <a:ext cx="64079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StandardScaler improves model stability and convergence speed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1071" y="609481"/>
            <a:ext cx="7626191" cy="5763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36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Building the Model: Step-by-Step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135499" y="1762601"/>
            <a:ext cx="184428" cy="829985"/>
          </a:xfrm>
          <a:prstGeom prst="roundRect">
            <a:avLst>
              <a:gd name="adj" fmla="val 42009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51071" y="1641515"/>
            <a:ext cx="553403" cy="553403"/>
          </a:xfrm>
          <a:prstGeom prst="roundRect">
            <a:avLst>
              <a:gd name="adj" fmla="val 82616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89422" y="1779865"/>
            <a:ext cx="276701" cy="27670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54493" y="1670328"/>
            <a:ext cx="2305764" cy="288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Load Dataset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654493" y="2048589"/>
            <a:ext cx="12024836" cy="267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Read CSV file containing experience and salary data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1412200" y="3019425"/>
            <a:ext cx="184428" cy="829985"/>
          </a:xfrm>
          <a:prstGeom prst="roundRect">
            <a:avLst>
              <a:gd name="adj" fmla="val 42009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27773" y="2898338"/>
            <a:ext cx="553403" cy="553403"/>
          </a:xfrm>
          <a:prstGeom prst="roundRect">
            <a:avLst>
              <a:gd name="adj" fmla="val 82616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66123" y="3036689"/>
            <a:ext cx="276701" cy="27670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931194" y="2927152"/>
            <a:ext cx="2305764" cy="288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Split Data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1931194" y="3305413"/>
            <a:ext cx="11748135" cy="267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Divide into training (80%) and testing (20%) sets</a:t>
            </a:r>
            <a:endParaRPr lang="en-US" sz="1450" dirty="0"/>
          </a:p>
        </p:txBody>
      </p:sp>
      <p:sp>
        <p:nvSpPr>
          <p:cNvPr id="13" name="Shape 9"/>
          <p:cNvSpPr/>
          <p:nvPr/>
        </p:nvSpPr>
        <p:spPr>
          <a:xfrm>
            <a:off x="1688902" y="4276249"/>
            <a:ext cx="184428" cy="829985"/>
          </a:xfrm>
          <a:prstGeom prst="roundRect">
            <a:avLst>
              <a:gd name="adj" fmla="val 42009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1504474" y="4155162"/>
            <a:ext cx="553403" cy="553403"/>
          </a:xfrm>
          <a:prstGeom prst="roundRect">
            <a:avLst>
              <a:gd name="adj" fmla="val 82616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642824" y="4293513"/>
            <a:ext cx="276701" cy="27670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207895" y="4183975"/>
            <a:ext cx="2305764" cy="288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Train Model</a:t>
            </a:r>
            <a:endParaRPr lang="en-US" sz="1800" dirty="0"/>
          </a:p>
        </p:txBody>
      </p:sp>
      <p:sp>
        <p:nvSpPr>
          <p:cNvPr id="17" name="Text 12"/>
          <p:cNvSpPr/>
          <p:nvPr/>
        </p:nvSpPr>
        <p:spPr>
          <a:xfrm>
            <a:off x="2207895" y="4562237"/>
            <a:ext cx="11471434" cy="267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Fit Linear Regression model on training data</a:t>
            </a:r>
            <a:endParaRPr lang="en-US" sz="1450" dirty="0"/>
          </a:p>
        </p:txBody>
      </p:sp>
      <p:sp>
        <p:nvSpPr>
          <p:cNvPr id="18" name="Shape 13"/>
          <p:cNvSpPr/>
          <p:nvPr/>
        </p:nvSpPr>
        <p:spPr>
          <a:xfrm>
            <a:off x="1965603" y="5533072"/>
            <a:ext cx="184428" cy="829985"/>
          </a:xfrm>
          <a:prstGeom prst="roundRect">
            <a:avLst>
              <a:gd name="adj" fmla="val 42009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1781175" y="5411986"/>
            <a:ext cx="553403" cy="553403"/>
          </a:xfrm>
          <a:prstGeom prst="roundRect">
            <a:avLst>
              <a:gd name="adj" fmla="val 82616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919526" y="5550337"/>
            <a:ext cx="276701" cy="276701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2484596" y="5440799"/>
            <a:ext cx="2305764" cy="288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Predict Salaries</a:t>
            </a:r>
            <a:endParaRPr lang="en-US" sz="1800" dirty="0"/>
          </a:p>
        </p:txBody>
      </p:sp>
      <p:sp>
        <p:nvSpPr>
          <p:cNvPr id="22" name="Text 16"/>
          <p:cNvSpPr/>
          <p:nvPr/>
        </p:nvSpPr>
        <p:spPr>
          <a:xfrm>
            <a:off x="2484596" y="5819061"/>
            <a:ext cx="11194733" cy="267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Generate predictions on test data and new inputs</a:t>
            </a:r>
            <a:endParaRPr lang="en-US" sz="1450" dirty="0"/>
          </a:p>
        </p:txBody>
      </p:sp>
      <p:sp>
        <p:nvSpPr>
          <p:cNvPr id="23" name="Shape 17"/>
          <p:cNvSpPr/>
          <p:nvPr/>
        </p:nvSpPr>
        <p:spPr>
          <a:xfrm>
            <a:off x="1688902" y="6789896"/>
            <a:ext cx="184428" cy="829985"/>
          </a:xfrm>
          <a:prstGeom prst="roundRect">
            <a:avLst>
              <a:gd name="adj" fmla="val 42009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1504474" y="6668810"/>
            <a:ext cx="553403" cy="553403"/>
          </a:xfrm>
          <a:prstGeom prst="roundRect">
            <a:avLst>
              <a:gd name="adj" fmla="val 82616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642824" y="6807160"/>
            <a:ext cx="276701" cy="276701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2207895" y="6697623"/>
            <a:ext cx="2532578" cy="288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Evaluate Performance</a:t>
            </a:r>
            <a:endParaRPr lang="en-US" sz="1800" dirty="0"/>
          </a:p>
        </p:txBody>
      </p:sp>
      <p:sp>
        <p:nvSpPr>
          <p:cNvPr id="27" name="Text 20"/>
          <p:cNvSpPr/>
          <p:nvPr/>
        </p:nvSpPr>
        <p:spPr>
          <a:xfrm>
            <a:off x="2207895" y="7075884"/>
            <a:ext cx="11471434" cy="267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Calculate metrics like R², MSE, and MAE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954" y="649248"/>
            <a:ext cx="8552855" cy="694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50"/>
              </a:lnSpc>
              <a:buNone/>
            </a:pPr>
            <a:r>
              <a:rPr lang="en-US" sz="43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Evaluating Model Performance</a:t>
            </a:r>
            <a:endParaRPr lang="en-US" sz="4350" dirty="0"/>
          </a:p>
        </p:txBody>
      </p:sp>
      <p:sp>
        <p:nvSpPr>
          <p:cNvPr id="3" name="Text 1"/>
          <p:cNvSpPr/>
          <p:nvPr/>
        </p:nvSpPr>
        <p:spPr>
          <a:xfrm>
            <a:off x="777954" y="1888450"/>
            <a:ext cx="2778681" cy="347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Key Metrics</a:t>
            </a:r>
            <a:endParaRPr lang="en-US" sz="2150" dirty="0"/>
          </a:p>
        </p:txBody>
      </p:sp>
      <p:sp>
        <p:nvSpPr>
          <p:cNvPr id="4" name="Text 2"/>
          <p:cNvSpPr/>
          <p:nvPr/>
        </p:nvSpPr>
        <p:spPr>
          <a:xfrm>
            <a:off x="777954" y="2453521"/>
            <a:ext cx="4223623" cy="44534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750"/>
              </a:lnSpc>
              <a:buSzPct val="100000"/>
              <a:buChar char="•"/>
            </a:pPr>
            <a:r>
              <a:rPr lang="en-US" sz="17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R² Score (~0.66):</a:t>
            </a:r>
            <a:pPr algn="l" indent="0" marL="0">
              <a:lnSpc>
                <a:spcPts val="27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Explains 66% of salary variance (typical for basic models)</a:t>
            </a:r>
            <a:endParaRPr lang="en-US" sz="1750" dirty="0"/>
          </a:p>
          <a:p>
            <a:pPr algn="l" marL="342900" indent="-342900">
              <a:lnSpc>
                <a:spcPts val="2750"/>
              </a:lnSpc>
              <a:buSzPct val="100000"/>
              <a:buChar char="•"/>
            </a:pPr>
            <a:r>
              <a:rPr lang="en-US" sz="17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Mean Squared Error (MSE):</a:t>
            </a:r>
            <a:pPr algn="l" indent="0" marL="0">
              <a:lnSpc>
                <a:spcPts val="27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Measures average squared prediction error</a:t>
            </a:r>
            <a:endParaRPr lang="en-US" sz="1750" dirty="0"/>
          </a:p>
          <a:p>
            <a:pPr algn="l" marL="342900" indent="-342900">
              <a:lnSpc>
                <a:spcPts val="2750"/>
              </a:lnSpc>
              <a:buSzPct val="100000"/>
              <a:buChar char="•"/>
            </a:pPr>
            <a:r>
              <a:rPr lang="en-US" sz="17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Root MSE:</a:t>
            </a:r>
            <a:pPr algn="l" indent="0" marL="0">
              <a:lnSpc>
                <a:spcPts val="27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Error magnitude in same units as salary</a:t>
            </a:r>
            <a:endParaRPr lang="en-US" sz="1750" dirty="0"/>
          </a:p>
          <a:p>
            <a:pPr algn="l" marL="342900" indent="-342900">
              <a:lnSpc>
                <a:spcPts val="2750"/>
              </a:lnSpc>
              <a:buSzPct val="100000"/>
              <a:buChar char="•"/>
            </a:pPr>
            <a:r>
              <a:rPr lang="en-US" sz="17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Mean Absolute Error (MAE):</a:t>
            </a:r>
            <a:pPr algn="l" indent="0" marL="0">
              <a:lnSpc>
                <a:spcPts val="27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Average absolute difference between predicted and actual salaries</a:t>
            </a:r>
            <a:endParaRPr lang="en-US" sz="17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51408" y="2008227"/>
            <a:ext cx="8308538" cy="463724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954" y="7228165"/>
            <a:ext cx="13074491" cy="3520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Visualization:</a:t>
            </a:r>
            <a:pPr algn="l" indent="0" marL="0">
              <a:lnSpc>
                <a:spcPts val="27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Scatter plot of Actual vs Predicted salaries to visually assess model fit and identify patterns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160740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Real-World Example: CareerScout System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2669024"/>
            <a:ext cx="315872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February 2026 Launch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3476863"/>
            <a:ext cx="3636407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93K</a:t>
            </a:r>
            <a:endParaRPr lang="en-US" sz="5850" dirty="0"/>
          </a:p>
        </p:txBody>
      </p:sp>
      <p:sp>
        <p:nvSpPr>
          <p:cNvPr id="6" name="Text 3"/>
          <p:cNvSpPr/>
          <p:nvPr/>
        </p:nvSpPr>
        <p:spPr>
          <a:xfrm>
            <a:off x="1194316" y="450865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Training Records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93790" y="4999077"/>
            <a:ext cx="36364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Salary data for data science roles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4713684" y="3476863"/>
            <a:ext cx="3636526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RandomForest</a:t>
            </a:r>
            <a:endParaRPr lang="en-US" sz="5850" dirty="0"/>
          </a:p>
        </p:txBody>
      </p:sp>
      <p:sp>
        <p:nvSpPr>
          <p:cNvPr id="9" name="Text 6"/>
          <p:cNvSpPr/>
          <p:nvPr/>
        </p:nvSpPr>
        <p:spPr>
          <a:xfrm>
            <a:off x="5114330" y="450865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Model Type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4713684" y="4999077"/>
            <a:ext cx="363652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RandomForestRegressor for accuracy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793790" y="5980033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Interactive dashboard with salary distributions and personalized reports. Demonstrates how regression powers practical salary prediction tools for professionals and employers.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5910" y="1148834"/>
            <a:ext cx="6723936" cy="549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300"/>
              </a:lnSpc>
              <a:buNone/>
            </a:pPr>
            <a:r>
              <a:rPr lang="en-US" sz="34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Challenges &amp; Future Directions</a:t>
            </a:r>
            <a:endParaRPr lang="en-US" sz="3450" dirty="0"/>
          </a:p>
        </p:txBody>
      </p:sp>
      <p:sp>
        <p:nvSpPr>
          <p:cNvPr id="4" name="Shape 1"/>
          <p:cNvSpPr/>
          <p:nvPr/>
        </p:nvSpPr>
        <p:spPr>
          <a:xfrm>
            <a:off x="615910" y="1903452"/>
            <a:ext cx="7912179" cy="1254442"/>
          </a:xfrm>
          <a:prstGeom prst="roundRect">
            <a:avLst>
              <a:gd name="adj" fmla="val 8747"/>
            </a:avLst>
          </a:prstGeom>
          <a:solidFill>
            <a:srgbClr val="F9F9FF"/>
          </a:solidFill>
          <a:ln w="22860">
            <a:solidFill>
              <a:srgbClr val="B8C3DF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93050" y="1903452"/>
            <a:ext cx="91440" cy="1254442"/>
          </a:xfrm>
          <a:prstGeom prst="roundRect">
            <a:avLst>
              <a:gd name="adj" fmla="val 80834"/>
            </a:avLst>
          </a:prstGeom>
          <a:solidFill>
            <a:srgbClr val="1B54DA"/>
          </a:solidFill>
          <a:ln/>
        </p:spPr>
      </p:sp>
      <p:sp>
        <p:nvSpPr>
          <p:cNvPr id="6" name="Text 3"/>
          <p:cNvSpPr/>
          <p:nvPr/>
        </p:nvSpPr>
        <p:spPr>
          <a:xfrm>
            <a:off x="883325" y="2102287"/>
            <a:ext cx="3139440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Complex Influencing Factors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83325" y="2459236"/>
            <a:ext cx="7445931" cy="499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Salary influenced by many factors beyond experience: skills, location, industry, company size, negotiation ability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15910" y="3294340"/>
            <a:ext cx="7912179" cy="1254442"/>
          </a:xfrm>
          <a:prstGeom prst="roundRect">
            <a:avLst>
              <a:gd name="adj" fmla="val 8747"/>
            </a:avLst>
          </a:prstGeom>
          <a:solidFill>
            <a:srgbClr val="F9F9FF"/>
          </a:solidFill>
          <a:ln w="22860">
            <a:solidFill>
              <a:srgbClr val="B8C3D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93050" y="3294340"/>
            <a:ext cx="91440" cy="1254442"/>
          </a:xfrm>
          <a:prstGeom prst="roundRect">
            <a:avLst>
              <a:gd name="adj" fmla="val 80834"/>
            </a:avLst>
          </a:prstGeom>
          <a:solidFill>
            <a:srgbClr val="1B54DA"/>
          </a:solidFill>
          <a:ln/>
        </p:spPr>
      </p:sp>
      <p:sp>
        <p:nvSpPr>
          <p:cNvPr id="10" name="Text 7"/>
          <p:cNvSpPr/>
          <p:nvPr/>
        </p:nvSpPr>
        <p:spPr>
          <a:xfrm>
            <a:off x="883325" y="3493175"/>
            <a:ext cx="2199799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Advanced Modeling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883325" y="3850124"/>
            <a:ext cx="7445931" cy="499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Incorporate more features and advanced models like Random Forest, Gradient Boosting, or Neural Networks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615910" y="4685228"/>
            <a:ext cx="7912179" cy="1004530"/>
          </a:xfrm>
          <a:prstGeom prst="roundRect">
            <a:avLst>
              <a:gd name="adj" fmla="val 10923"/>
            </a:avLst>
          </a:prstGeom>
          <a:solidFill>
            <a:srgbClr val="F9F9FF"/>
          </a:solidFill>
          <a:ln w="22860">
            <a:solidFill>
              <a:srgbClr val="B8C3D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93050" y="4685228"/>
            <a:ext cx="91440" cy="1004530"/>
          </a:xfrm>
          <a:prstGeom prst="roundRect">
            <a:avLst>
              <a:gd name="adj" fmla="val 80834"/>
            </a:avLst>
          </a:prstGeom>
          <a:solidFill>
            <a:srgbClr val="1B54DA"/>
          </a:solidFill>
          <a:ln/>
        </p:spPr>
      </p:sp>
      <p:sp>
        <p:nvSpPr>
          <p:cNvPr id="14" name="Text 11"/>
          <p:cNvSpPr/>
          <p:nvPr/>
        </p:nvSpPr>
        <p:spPr>
          <a:xfrm>
            <a:off x="883325" y="4884063"/>
            <a:ext cx="2199799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Larger Datasets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883325" y="5241012"/>
            <a:ext cx="7445931" cy="249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Use larger, diverse datasets for better generalization across industries and geographies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615910" y="5826204"/>
            <a:ext cx="7912179" cy="1254442"/>
          </a:xfrm>
          <a:prstGeom prst="roundRect">
            <a:avLst>
              <a:gd name="adj" fmla="val 8747"/>
            </a:avLst>
          </a:prstGeom>
          <a:solidFill>
            <a:srgbClr val="F9F9FF"/>
          </a:solidFill>
          <a:ln w="22860">
            <a:solidFill>
              <a:srgbClr val="B8C3D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93050" y="5826204"/>
            <a:ext cx="91440" cy="1254442"/>
          </a:xfrm>
          <a:prstGeom prst="roundRect">
            <a:avLst>
              <a:gd name="adj" fmla="val 80834"/>
            </a:avLst>
          </a:prstGeom>
          <a:solidFill>
            <a:srgbClr val="1B54DA"/>
          </a:solidFill>
          <a:ln/>
        </p:spPr>
      </p:sp>
      <p:sp>
        <p:nvSpPr>
          <p:cNvPr id="18" name="Text 15"/>
          <p:cNvSpPr/>
          <p:nvPr/>
        </p:nvSpPr>
        <p:spPr>
          <a:xfrm>
            <a:off x="883325" y="6025039"/>
            <a:ext cx="2546152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Real-Time Applications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883325" y="6381988"/>
            <a:ext cx="7445931" cy="499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Build user-friendly apps for real-time salary insights and personalized career recommendations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7461" y="1077158"/>
            <a:ext cx="7869079" cy="1138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Conclusion: The Power of Regression in Salary Prediction</a:t>
            </a:r>
            <a:endParaRPr lang="en-US" sz="3550" dirty="0"/>
          </a:p>
        </p:txBody>
      </p:sp>
      <p:sp>
        <p:nvSpPr>
          <p:cNvPr id="4" name="Shape 1"/>
          <p:cNvSpPr/>
          <p:nvPr/>
        </p:nvSpPr>
        <p:spPr>
          <a:xfrm>
            <a:off x="637461" y="2434709"/>
            <a:ext cx="409694" cy="409694"/>
          </a:xfrm>
          <a:prstGeom prst="roundRect">
            <a:avLst>
              <a:gd name="adj" fmla="val 18672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193363" y="2497217"/>
            <a:ext cx="2292429" cy="284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Simple Yet Powerful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1193363" y="2869525"/>
            <a:ext cx="7313176" cy="525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Linear regression offers a straightforward yet powerful way to estimate salaries based on experience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37461" y="3687247"/>
            <a:ext cx="409694" cy="409694"/>
          </a:xfrm>
          <a:prstGeom prst="roundRect">
            <a:avLst>
              <a:gd name="adj" fmla="val 18672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93363" y="3749754"/>
            <a:ext cx="2276594" cy="284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Fair Compensation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1193363" y="4122063"/>
            <a:ext cx="7313176" cy="525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Data-driven predictions support fair compensation practices and informed career planning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37461" y="4939784"/>
            <a:ext cx="409694" cy="409694"/>
          </a:xfrm>
          <a:prstGeom prst="roundRect">
            <a:avLst>
              <a:gd name="adj" fmla="val 18672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93363" y="5002292"/>
            <a:ext cx="2915364" cy="284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Continuous Improvement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1193363" y="5374600"/>
            <a:ext cx="7313176" cy="525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Continuous model improvement with richer data and advanced techniques will enhance accuracy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37461" y="6192322"/>
            <a:ext cx="409694" cy="409694"/>
          </a:xfrm>
          <a:prstGeom prst="roundRect">
            <a:avLst>
              <a:gd name="adj" fmla="val 18672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193363" y="6254829"/>
            <a:ext cx="2646640" cy="284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Transform HR Analytics</a:t>
            </a:r>
            <a:endParaRPr lang="en-US" sz="1750" dirty="0"/>
          </a:p>
        </p:txBody>
      </p:sp>
      <p:sp>
        <p:nvSpPr>
          <p:cNvPr id="15" name="Text 12"/>
          <p:cNvSpPr/>
          <p:nvPr/>
        </p:nvSpPr>
        <p:spPr>
          <a:xfrm>
            <a:off x="1193363" y="6627138"/>
            <a:ext cx="7313176" cy="525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Embrace machine learning to transform HR analytics and empower professionals with insights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2026-03-07T07:33:35Z</dcterms:created>
  <dcterms:modified xsi:type="dcterms:W3CDTF">2026-03-07T07:33:35Z</dcterms:modified>
</cp:coreProperties>
</file>